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7nK151YdIZSeRnm+3JZk4hwiQ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BC6C1E-BED5-463D-9D9D-55BB47110D15}">
  <a:tblStyle styleId="{F9BC6C1E-BED5-463D-9D9D-55BB47110D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792F72-9F60-45A1-A759-DC8DF3A647C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decademy.com/article/introduction-to-numpy-and-pandas" TargetMode="External"/><Relationship Id="rId3" Type="http://schemas.openxmlformats.org/officeDocument/2006/relationships/hyperlink" Target="https://scispace.com/papers/oemoberta-only-using-emotion-for-emotion-recognition-in-1bv9tkv2" TargetMode="External"/><Relationship Id="rId7" Type="http://schemas.openxmlformats.org/officeDocument/2006/relationships/hyperlink" Target="https://scikit-learn.org/stable/modules/generated/sklearn.linear_model.SGDClassifier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space.com/papers/emotion-recognition-in-conversation-from-variable-length-140t41y3" TargetMode="External"/><Relationship Id="rId5" Type="http://schemas.openxmlformats.org/officeDocument/2006/relationships/hyperlink" Target="https://ieeexplore.ieee.org/document/10833509" TargetMode="External"/><Relationship Id="rId10" Type="http://schemas.openxmlformats.org/officeDocument/2006/relationships/hyperlink" Target="https://flask.palletsprojects.com/en/stable/" TargetMode="External"/><Relationship Id="rId4" Type="http://schemas.openxmlformats.org/officeDocument/2006/relationships/hyperlink" Target="https://scispace.com/" TargetMode="External"/><Relationship Id="rId9" Type="http://schemas.openxmlformats.org/officeDocument/2006/relationships/hyperlink" Target="https://chatgp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047600" y="469900"/>
            <a:ext cx="6563100" cy="1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Ramapuram , Chennai – 600 089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80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609600" y="1800225"/>
            <a:ext cx="8077200" cy="12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21CSC305P/ MACHINE LEARNING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FeelSense : Emotion-driven Conversational AI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33728" y="3276600"/>
            <a:ext cx="6400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NUMBER : 13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" name="Google Shape;91;p1"/>
          <p:cNvGraphicFramePr/>
          <p:nvPr>
            <p:extLst>
              <p:ext uri="{D42A27DB-BD31-4B8C-83A1-F6EECF244321}">
                <p14:modId xmlns:p14="http://schemas.microsoft.com/office/powerpoint/2010/main" val="1594442224"/>
              </p:ext>
            </p:extLst>
          </p:nvPr>
        </p:nvGraphicFramePr>
        <p:xfrm>
          <a:off x="304800" y="4114800"/>
          <a:ext cx="8305800" cy="2133600"/>
        </p:xfrm>
        <a:graphic>
          <a:graphicData uri="http://schemas.openxmlformats.org/drawingml/2006/table">
            <a:tbl>
              <a:tblPr firstRow="1" bandRow="1">
                <a:noFill/>
                <a:tableStyleId>{F9BC6C1E-BED5-463D-9D9D-55BB47110D15}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 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NAME: 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SABITHA. P, AP/CSE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" name="Google Shape;92;p1"/>
          <p:cNvSpPr txBox="1">
            <a:spLocks noGrp="1"/>
          </p:cNvSpPr>
          <p:nvPr>
            <p:ph type="ftr" idx="11"/>
          </p:nvPr>
        </p:nvSpPr>
        <p:spPr>
          <a:xfrm>
            <a:off x="533400" y="6292875"/>
            <a:ext cx="8077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Date: 31-10-2025							Slide 1</a:t>
            </a:r>
            <a:endParaRPr dirty="0"/>
          </a:p>
        </p:txBody>
      </p:sp>
      <p:pic>
        <p:nvPicPr>
          <p:cNvPr id="93" name="Google Shape;9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77250"/>
            <a:ext cx="1742800" cy="1622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C4C032-DAF4-9317-6D8C-75E288A92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534425"/>
              </p:ext>
            </p:extLst>
          </p:nvPr>
        </p:nvGraphicFramePr>
        <p:xfrm>
          <a:off x="304800" y="4578751"/>
          <a:ext cx="4068726" cy="980440"/>
        </p:xfrm>
        <a:graphic>
          <a:graphicData uri="http://schemas.openxmlformats.org/drawingml/2006/table">
            <a:tbl>
              <a:tblPr firstRow="1" bandRow="1"/>
              <a:tblGrid>
                <a:gridCol w="2034363">
                  <a:extLst>
                    <a:ext uri="{9D8B030D-6E8A-4147-A177-3AD203B41FA5}">
                      <a16:colId xmlns:a16="http://schemas.microsoft.com/office/drawing/2014/main" val="3091939739"/>
                    </a:ext>
                  </a:extLst>
                </a:gridCol>
                <a:gridCol w="2034363">
                  <a:extLst>
                    <a:ext uri="{9D8B030D-6E8A-4147-A177-3AD203B41FA5}">
                      <a16:colId xmlns:a16="http://schemas.microsoft.com/office/drawing/2014/main" val="2607582844"/>
                    </a:ext>
                  </a:extLst>
                </a:gridCol>
              </a:tblGrid>
              <a:tr h="29096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P. NIRANJANA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[RA2311003020458]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002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SHRADDHA. 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[RA2311003020480]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0480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PRIYADHARSHINI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[RA2311003020508]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13242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13145" y="1023828"/>
            <a:ext cx="8530855" cy="460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5528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Abstract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28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Scope and Motivation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28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28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 ( Table)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28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294640" algn="l" rtl="0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5528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Proposed Work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9813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Flow Diagram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9813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 and description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9813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Algorithm</a:t>
            </a:r>
          </a:p>
          <a:p>
            <a:pPr marL="342900" indent="-355282">
              <a:spcBef>
                <a:spcPts val="1000"/>
              </a:spcBef>
              <a:buClr>
                <a:srgbClr val="000000"/>
              </a:buClr>
              <a:buSzPct val="100000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Implementation</a:t>
            </a:r>
            <a:endParaRPr lang="en-US" sz="1400" b="0" i="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35528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and Discussion-Comparison with Existing Work(Table/Graphs)</a:t>
            </a:r>
          </a:p>
          <a:p>
            <a:pPr marL="342900" lvl="0" indent="-35528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28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Work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282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57200" y="6370637"/>
            <a:ext cx="8229600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3"/>
          <p:cNvSpPr txBox="1">
            <a:spLocks noGrp="1"/>
          </p:cNvSpPr>
          <p:nvPr>
            <p:ph type="ftr" idx="11"/>
          </p:nvPr>
        </p:nvSpPr>
        <p:spPr>
          <a:xfrm>
            <a:off x="549349" y="6508751"/>
            <a:ext cx="8229600" cy="34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E7C3031-AA94-EB6C-7F3B-A135F8E63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17638"/>
            <a:ext cx="7832652" cy="3904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about a smart chatbot that can understand people’s emotions.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talk to the bot using text or voice. (voice will be converted to text)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bot uses AI models to find out if the user is happy, sad, angry, scared, or feeling any another emotion.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each chat, the bot asks the user if the emotion detected was correct. (feedback)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feedback answers are saved and studied to check how well the bot is doing.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bot keeps learning and improving over time using this feedback.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Because it understands emotions and responds kindly, it can be useful for mental health and emotional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457201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Motivation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4"/>
          <p:cNvSpPr txBox="1">
            <a:spLocks noGrp="1"/>
          </p:cNvSpPr>
          <p:nvPr>
            <p:ph type="ftr" idx="11"/>
          </p:nvPr>
        </p:nvSpPr>
        <p:spPr>
          <a:xfrm>
            <a:off x="2281569" y="6400799"/>
            <a:ext cx="48785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BBC26C-A135-555C-4ED6-9923D9A7B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1222960"/>
            <a:ext cx="8229600" cy="4766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chatbot can interact with users through text or voice.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detect emotions such as happiness, sadness, anger, fear, etc.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gives empathetic replies based on the user’s feelings.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includes a feedback system to check if the emotion detected was right.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used in mental wellness apps, customer support, or virtual assistants.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chatbots today don’t understand human emotions.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often want a chatbot that can respond with care and empathy.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 awareness in AI can help in mental health support and better human–computer communication.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make technology more human-like and emotionally intelligent.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482399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ftr" idx="11"/>
          </p:nvPr>
        </p:nvSpPr>
        <p:spPr>
          <a:xfrm>
            <a:off x="2320946" y="6400799"/>
            <a:ext cx="45525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A49E38-805E-8BD9-D817-4DC7EAE67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7600" y="1352646"/>
            <a:ext cx="8179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Talking with feelings is very important for people, but most chatbots cannot understand emotions.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FeelSense is a smart chatbot that can understand both text and voice messages.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a machine learning method called SGD Classifier to find the user’s emotion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like happy, sad, angry, or anxious.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bot gives kind and suitable replies based on the user’s feelings.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has a feedback system where the user can say if the emotion detected was right or wrong.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helps the bot learn and get better over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FeelSense can be used for mental health support, helping students before exams, and checking how employees feel at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7" name="Google Shape;127;p6"/>
          <p:cNvGraphicFramePr/>
          <p:nvPr>
            <p:extLst>
              <p:ext uri="{D42A27DB-BD31-4B8C-83A1-F6EECF244321}">
                <p14:modId xmlns:p14="http://schemas.microsoft.com/office/powerpoint/2010/main" val="2537109801"/>
              </p:ext>
            </p:extLst>
          </p:nvPr>
        </p:nvGraphicFramePr>
        <p:xfrm>
          <a:off x="373912" y="1508300"/>
          <a:ext cx="8523767" cy="4468476"/>
        </p:xfrm>
        <a:graphic>
          <a:graphicData uri="http://schemas.openxmlformats.org/drawingml/2006/table">
            <a:tbl>
              <a:tblPr firstRow="1" bandRow="1">
                <a:noFill/>
                <a:tableStyleId>{17792F72-9F60-45A1-A759-DC8DF3A647CD}</a:tableStyleId>
              </a:tblPr>
              <a:tblGrid>
                <a:gridCol w="385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4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86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695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AI Chatbot with Emotional Recognition for an Improved Customer Service Experience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uses a variable-length context model with speaker-aware units and a top-K normalization layer to select the most relevant parts of a conversation for emotion prediction.</a:t>
                      </a:r>
                      <a:endParaRPr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approach improved emotion recognition accuracy and outperformed fixed context models on three public datasets.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1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The Acoustically Emotion-Aware Conversational Agent With Speech Emotion Recognition and Empathetic Responses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made a chatbot that can understand emotions from a person’s voice and reply with kind and caring messages. It was tested with 75 people to see how well it worked.</a:t>
                      </a:r>
                      <a:endParaRPr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People felt the chatbot was more understanding and it helped reduce their negative feelings.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195456"/>
                  </a:ext>
                </a:extLst>
              </a:tr>
              <a:tr h="9907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Classification of Mental Health and Emotion of Human from Text using Machine Learning Approaches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built a chatbot that can understand emotions from a person’s voice and give kind, empathetic replies. It was tested with 75 people to check how well it understood and responded to emotions.</a:t>
                      </a:r>
                      <a:endParaRPr sz="13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3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People felt that the chatbot was more emotionally intelligent and that it helped reduce their negative feelings during conversations.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397136"/>
                  </a:ext>
                </a:extLst>
              </a:tr>
            </a:tbl>
          </a:graphicData>
        </a:graphic>
      </p:graphicFrame>
      <p:sp>
        <p:nvSpPr>
          <p:cNvPr id="128" name="Google Shape;128;p6"/>
          <p:cNvSpPr txBox="1">
            <a:spLocks noGrp="1"/>
          </p:cNvSpPr>
          <p:nvPr>
            <p:ph type="ftr" idx="11"/>
          </p:nvPr>
        </p:nvSpPr>
        <p:spPr>
          <a:xfrm>
            <a:off x="2318783" y="6400799"/>
            <a:ext cx="46340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495300" y="0"/>
            <a:ext cx="8229600" cy="101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7"/>
          <p:cNvSpPr txBox="1">
            <a:spLocks noGrp="1"/>
          </p:cNvSpPr>
          <p:nvPr>
            <p:ph type="ftr" idx="11"/>
          </p:nvPr>
        </p:nvSpPr>
        <p:spPr>
          <a:xfrm>
            <a:off x="419100" y="6519567"/>
            <a:ext cx="8305800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3BB887-A093-CDA5-121D-67A8B051A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15" y="1203251"/>
            <a:ext cx="8448170" cy="4335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an emotion-aware chatbot that can understand how a user feels from their text or speech.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user input using a trained machine learning model that detects emotions like happy, sad, angry, fear, surprise, or neutral.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give feedback if the detected emotion is incorrect, and use that feedback to improve the model automatically.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store user feedback and correct emotions in a dataset for better future training.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the model’s performance using accuracy, precision, recall, F1-score, and charts for better understanding.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interactive and user-friendly web interface that makes emotion detection easy to use and understand.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8"/>
          <p:cNvSpPr txBox="1">
            <a:spLocks noGrp="1"/>
          </p:cNvSpPr>
          <p:nvPr>
            <p:ph type="ftr" idx="11"/>
          </p:nvPr>
        </p:nvSpPr>
        <p:spPr>
          <a:xfrm>
            <a:off x="2448146" y="6492875"/>
            <a:ext cx="44107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D5ED57-A374-580B-1BEB-AC20465F8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90623" y="1235771"/>
            <a:ext cx="872578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normal chatbots, the system only understands the words but not the feelings of the user.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conversations feel robotic and emotionless, reducing user satisfaction.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Humans express emotions through tone, words, and context — but most chatbots cannot detect or respond appropriately to these emotions.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machine learning-based chatbot that can identify emotions from user input and respond accordingly.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emotional patterns, the chatbot can improve user interaction, personalize responses, and enhance the overall communication experience.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400494" y="130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9"/>
          <p:cNvSpPr txBox="1">
            <a:spLocks noGrp="1"/>
          </p:cNvSpPr>
          <p:nvPr>
            <p:ph type="ftr" idx="11"/>
          </p:nvPr>
        </p:nvSpPr>
        <p:spPr>
          <a:xfrm>
            <a:off x="2876108" y="6492875"/>
            <a:ext cx="41130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2FC716-D7E4-5E34-26CB-E0B0D3D06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0494" y="1156028"/>
            <a:ext cx="13290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7C0EF-42FF-C4C7-1441-1A9F86E56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65" y="1679248"/>
            <a:ext cx="8550441" cy="38425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51E7-9F12-A480-A859-1FE69495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03" y="221475"/>
            <a:ext cx="3689498" cy="412934"/>
          </a:xfrm>
        </p:spPr>
        <p:txBody>
          <a:bodyPr>
            <a:noAutofit/>
          </a:bodyPr>
          <a:lstStyle/>
          <a:p>
            <a:pPr algn="l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and description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A792B4-4C31-57D5-898E-C887306C5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716699"/>
              </p:ext>
            </p:extLst>
          </p:nvPr>
        </p:nvGraphicFramePr>
        <p:xfrm>
          <a:off x="425303" y="634409"/>
          <a:ext cx="8293394" cy="2595880"/>
        </p:xfrm>
        <a:graphic>
          <a:graphicData uri="http://schemas.openxmlformats.org/drawingml/2006/table">
            <a:tbl>
              <a:tblPr firstRow="1" bandRow="1">
                <a:tableStyleId>{17792F72-9F60-45A1-A759-DC8DF3A647CD}</a:tableStyleId>
              </a:tblPr>
              <a:tblGrid>
                <a:gridCol w="2158131">
                  <a:extLst>
                    <a:ext uri="{9D8B030D-6E8A-4147-A177-3AD203B41FA5}">
                      <a16:colId xmlns:a16="http://schemas.microsoft.com/office/drawing/2014/main" val="1152798589"/>
                    </a:ext>
                  </a:extLst>
                </a:gridCol>
                <a:gridCol w="6135263">
                  <a:extLst>
                    <a:ext uri="{9D8B030D-6E8A-4147-A177-3AD203B41FA5}">
                      <a16:colId xmlns:a16="http://schemas.microsoft.com/office/drawing/2014/main" val="3482089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Name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61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Gathers data from user interactions and saves it in CSV format for model improvement.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2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Cleans and formats input to ensure consistent data for model training and prediction.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998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ML algorithms to classify text/speech into emotion categories.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386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Selects and generates replies that match the detected emotion.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077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Collects user corrections to enhance model performance dynamically.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752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Computes and displays accuracy, precision, recall, F1-score, and confusion matrix results.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6313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7F8AB1-AC78-4041-3EF0-F7F774F2CF13}"/>
              </a:ext>
            </a:extLst>
          </p:cNvPr>
          <p:cNvSpPr txBox="1"/>
          <p:nvPr/>
        </p:nvSpPr>
        <p:spPr>
          <a:xfrm>
            <a:off x="425303" y="3164249"/>
            <a:ext cx="7871637" cy="299069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:</a:t>
            </a:r>
          </a:p>
          <a:p>
            <a:pPr lvl="7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 text/speech data.</a:t>
            </a:r>
          </a:p>
          <a:p>
            <a:pPr lvl="7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Clean data by removing noise, special characters,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7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 text into numerical form (e.g., TF-IDF or Word Embeddings).</a:t>
            </a:r>
          </a:p>
          <a:p>
            <a:pPr lvl="7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Train the ML model (e.g., SVM) using the labeled emotion dataset.</a:t>
            </a:r>
          </a:p>
          <a:p>
            <a:pPr lvl="7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model predicts the emotion label for new input.</a:t>
            </a:r>
          </a:p>
          <a:p>
            <a:pPr lvl="7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chatbot generates emotion-aware responses.</a:t>
            </a:r>
          </a:p>
          <a:p>
            <a:pPr lvl="7" algn="just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 user disagrees, store the correct emotion in the dataset.</a:t>
            </a:r>
          </a:p>
        </p:txBody>
      </p:sp>
      <p:sp>
        <p:nvSpPr>
          <p:cNvPr id="6" name="Google Shape;149;p9">
            <a:extLst>
              <a:ext uri="{FF2B5EF4-FFF2-40B4-BE49-F238E27FC236}">
                <a16:creationId xmlns:a16="http://schemas.microsoft.com/office/drawing/2014/main" id="{67A1B618-9B0B-2D9D-AE28-16F94449722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755605" y="6492875"/>
            <a:ext cx="41130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4436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11"/>
          <p:cNvSpPr txBox="1">
            <a:spLocks noGrp="1"/>
          </p:cNvSpPr>
          <p:nvPr>
            <p:ph type="ftr" idx="11"/>
          </p:nvPr>
        </p:nvSpPr>
        <p:spPr>
          <a:xfrm>
            <a:off x="2613837" y="6492875"/>
            <a:ext cx="44107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CFCCBB-B13A-C066-E697-A53BA0DD3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993314"/>
              </p:ext>
            </p:extLst>
          </p:nvPr>
        </p:nvGraphicFramePr>
        <p:xfrm>
          <a:off x="574157" y="1185391"/>
          <a:ext cx="8172894" cy="2839720"/>
        </p:xfrm>
        <a:graphic>
          <a:graphicData uri="http://schemas.openxmlformats.org/drawingml/2006/table">
            <a:tbl>
              <a:tblPr firstRow="1" bandRow="1">
                <a:tableStyleId>{17792F72-9F60-45A1-A759-DC8DF3A647CD}</a:tableStyleId>
              </a:tblPr>
              <a:tblGrid>
                <a:gridCol w="2034364">
                  <a:extLst>
                    <a:ext uri="{9D8B030D-6E8A-4147-A177-3AD203B41FA5}">
                      <a16:colId xmlns:a16="http://schemas.microsoft.com/office/drawing/2014/main" val="1771443853"/>
                    </a:ext>
                  </a:extLst>
                </a:gridCol>
                <a:gridCol w="6138530">
                  <a:extLst>
                    <a:ext uri="{9D8B030D-6E8A-4147-A177-3AD203B41FA5}">
                      <a16:colId xmlns:a16="http://schemas.microsoft.com/office/drawing/2014/main" val="1104390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36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Back-End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Python 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Flask 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Libraries: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pandas, NumPy, scikit-learn, matplotlib, plotly, flask_sqlalchemy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004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emotion.csv 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Contains text samples labelled with emotions (e.g., joy, sadness, anger, fear, neutral). 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File: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feedback_log.csv (stores user corrections for retraining).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984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HTML, CSS (Tailwind), JavaScript 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 Routes: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→ Chat Interface 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/visualize → Visualization Dashboard 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/metrics → Model Performance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8850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F63D3A-DE31-0164-9330-3FBF8CFFBC6B}"/>
              </a:ext>
            </a:extLst>
          </p:cNvPr>
          <p:cNvSpPr txBox="1"/>
          <p:nvPr/>
        </p:nvSpPr>
        <p:spPr>
          <a:xfrm>
            <a:off x="574157" y="4025111"/>
            <a:ext cx="7318744" cy="1444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TRAINING– SGD CLASSIFIER (LOGISTIC REGRESSION AND SVM)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preprocess dataset.</a:t>
            </a:r>
          </a:p>
          <a:p>
            <a:pPr marL="457200" lvl="1"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to numerical features using TF-IDF.</a:t>
            </a:r>
          </a:p>
          <a:p>
            <a:pPr marL="457200" lvl="1"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model to classify emotions like joy, sadness, anger, fear, neutral.</a:t>
            </a:r>
          </a:p>
          <a:p>
            <a:pPr marL="457200" lvl="1"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model using joblib for real-time prediction.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E034B-152F-3FB2-1692-B5C2AC845DCE}"/>
              </a:ext>
            </a:extLst>
          </p:cNvPr>
          <p:cNvSpPr txBox="1"/>
          <p:nvPr/>
        </p:nvSpPr>
        <p:spPr>
          <a:xfrm>
            <a:off x="574157" y="5536472"/>
            <a:ext cx="6914707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  <a:p>
            <a:pPr lvl="4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Flask connects front-end and ML model.</a:t>
            </a:r>
          </a:p>
          <a:p>
            <a:pPr lvl="2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Feedback is stored and retrained periodically to improve emotion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57199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Google Shape;163;p12"/>
          <p:cNvSpPr txBox="1">
            <a:spLocks noGrp="1"/>
          </p:cNvSpPr>
          <p:nvPr>
            <p:ph type="ftr" idx="11"/>
          </p:nvPr>
        </p:nvSpPr>
        <p:spPr>
          <a:xfrm>
            <a:off x="1954618" y="6400799"/>
            <a:ext cx="52347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95C75-D5D0-FCD9-F1C2-80962A1EA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1235051"/>
            <a:ext cx="4152899" cy="27277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9528F-1EC6-102D-771F-5BB397331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0" y="1343365"/>
            <a:ext cx="2414181" cy="2656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3DA4CB-A7E2-41F7-0FB8-2CEDE88F274D}"/>
              </a:ext>
            </a:extLst>
          </p:cNvPr>
          <p:cNvSpPr txBox="1"/>
          <p:nvPr/>
        </p:nvSpPr>
        <p:spPr>
          <a:xfrm>
            <a:off x="7454487" y="1518850"/>
            <a:ext cx="1416051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model predicting it wrong and user selects the right emotion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943B0D0C-8D26-00A4-3C8E-6F66F81CDDC6}"/>
              </a:ext>
            </a:extLst>
          </p:cNvPr>
          <p:cNvCxnSpPr>
            <a:cxnSpLocks/>
          </p:cNvCxnSpPr>
          <p:nvPr/>
        </p:nvCxnSpPr>
        <p:spPr>
          <a:xfrm rot="5400000">
            <a:off x="7228911" y="2337454"/>
            <a:ext cx="655179" cy="4953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0404700-A6A5-81B9-32FC-549FCC9BE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51" y="4089270"/>
            <a:ext cx="2510893" cy="24193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8DC3DE-15CC-06CD-E244-694A58AC97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250" y="4200590"/>
            <a:ext cx="5981288" cy="2089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13"/>
          <p:cNvSpPr txBox="1">
            <a:spLocks noGrp="1"/>
          </p:cNvSpPr>
          <p:nvPr>
            <p:ph type="ftr" idx="11"/>
          </p:nvPr>
        </p:nvSpPr>
        <p:spPr>
          <a:xfrm>
            <a:off x="2515486" y="6400799"/>
            <a:ext cx="41130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 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2DF2AB-00EE-31D8-ED28-C69266118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228397"/>
            <a:ext cx="8134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Emotion-Aware Chatbot successfully identifies user emotions from text input using machine learning.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adapts responses based on detected emotions — enhancing interaction in therapy, education, and corporate settings.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performance metrics and visual dashboards help monitor model accuracy, precision, and feedback improvement.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how sentiment and emotion analysis can improve human-computer interaction.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foundation for personalized and empathetic AI communication.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feedback logging allows retraining and refinement to improve emotion recognition accuracy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Google Shape;177;p14"/>
          <p:cNvSpPr txBox="1">
            <a:spLocks noGrp="1"/>
          </p:cNvSpPr>
          <p:nvPr>
            <p:ph type="ftr" idx="11"/>
          </p:nvPr>
        </p:nvSpPr>
        <p:spPr>
          <a:xfrm>
            <a:off x="2136258" y="6400799"/>
            <a:ext cx="48714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2EAC7A-4C20-5D33-E8DB-01D91B5B9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7825" y="1480570"/>
            <a:ext cx="83089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Emotion Recognition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Extend the system to detect emotions from tone, pitch, and voice modulation.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Enable emotion detection and responses in multiple languages.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Integration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 advanced models like LSTM or BERT for better emotion understanding.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Responses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Adapt replies based on user history, mood trends, and behavioral patterns.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&amp; Ethics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Strengthen data privacy and ensure responsible emotion data usage.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15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OEmoBERTa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 Only Using Emotion for Emotion Recognition in Conversation (2022) | A. Wahrman | 2 Citations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SciSpace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AI Research Agent | 150+ Tools, 280 M Papers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AI Chatbot with Emotional Recognition for an Improved Customer Service Experience | IEEE Conference Publication | IEEE Xplore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Poria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Cambria, D.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Hazarika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N. </a:t>
            </a:r>
            <a:r>
              <a:rPr lang="es-E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Majumder</a:t>
            </a:r>
            <a:r>
              <a:rPr lang="es-E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“Emotion Recognition in Conversation: Research Challenges, Datasets, and Recent Advances,” </a:t>
            </a:r>
            <a:r>
              <a:rPr lang="nl-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vol. 7, pp. 100943–100953, 2019.</a:t>
            </a:r>
          </a:p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Sravani, P. Kumar, S. Priya, S. K. Yadav, M. J. Rao, and U. D. Prasan, “Constructing a Study Buddy Using MERN Stack Technologies,”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EngProc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2024, DOI: 10.3390/engproc2024066027.</a:t>
            </a:r>
          </a:p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(Open Access) Emotion Recognition in Conversation from Variable-Length Context (2023) | Mian Zhang | 2 Citations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SGDClassifier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— scikit-learn 1.7.2 documentation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Introduction to Pandas and NumPy |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Codecademy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  <a:hlinkClick r:id="rId9"/>
              </a:rPr>
              <a:t>https://chatgpt.com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69900" lvl="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Welcome to Flask — Flask Documentation (3.1.x)</a:t>
            </a:r>
            <a:endParaRPr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84" name="Google Shape;184;p15"/>
          <p:cNvSpPr txBox="1">
            <a:spLocks noGrp="1"/>
          </p:cNvSpPr>
          <p:nvPr>
            <p:ph type="ftr" idx="11"/>
          </p:nvPr>
        </p:nvSpPr>
        <p:spPr>
          <a:xfrm>
            <a:off x="762000" y="6512478"/>
            <a:ext cx="7620000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COMPUTER SCIENCE AND ENGINEERING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1755</Words>
  <Application>Microsoft Office PowerPoint</Application>
  <PresentationFormat>On-screen Show (4:3)</PresentationFormat>
  <Paragraphs>178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SRM INSTITUTE OF SCIENCE AND TECHNOLOGY Ramapuram , Chennai – 600 089 DEPARTMENT OF COMPUTER SCIENCE AND ENGINEERING</vt:lpstr>
      <vt:lpstr>Agenda</vt:lpstr>
      <vt:lpstr>Abstract</vt:lpstr>
      <vt:lpstr>Scope and Motivation</vt:lpstr>
      <vt:lpstr>Introduction</vt:lpstr>
      <vt:lpstr>Literature Survey</vt:lpstr>
      <vt:lpstr>Objective</vt:lpstr>
      <vt:lpstr>Problem Statement</vt:lpstr>
      <vt:lpstr>Proposed Work</vt:lpstr>
      <vt:lpstr>Modules and description</vt:lpstr>
      <vt:lpstr>Implementation</vt:lpstr>
      <vt:lpstr>Results and Discussion</vt:lpstr>
      <vt:lpstr>Conclusion</vt:lpstr>
      <vt:lpstr>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SRM INSTITUTE OF SCIENCE AND TECHNOLOGY Ramapuram , Chennai – 600 089 DEPARTMENT OF COMPUTER SCIENCE AND ENGINEERING</dc:title>
  <dc:creator>DELL</dc:creator>
  <cp:lastModifiedBy>Shraddha shivakumar</cp:lastModifiedBy>
  <cp:revision>5</cp:revision>
  <dcterms:created xsi:type="dcterms:W3CDTF">2023-07-26T03:49:14Z</dcterms:created>
  <dcterms:modified xsi:type="dcterms:W3CDTF">2025-12-06T03:54:33Z</dcterms:modified>
</cp:coreProperties>
</file>